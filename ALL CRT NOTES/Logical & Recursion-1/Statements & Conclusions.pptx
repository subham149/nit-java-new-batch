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401" r:id="rId3"/>
    <p:sldId id="402" r:id="rId4"/>
    <p:sldId id="403" r:id="rId5"/>
    <p:sldId id="404" r:id="rId6"/>
    <p:sldId id="405" r:id="rId7"/>
    <p:sldId id="407" r:id="rId8"/>
    <p:sldId id="408" r:id="rId9"/>
    <p:sldId id="409" r:id="rId10"/>
    <p:sldId id="410" r:id="rId11"/>
    <p:sldId id="411" r:id="rId12"/>
    <p:sldId id="412" r:id="rId13"/>
    <p:sldId id="31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69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E06200-7042-4448-8BCB-6B20C1C7B22C}" type="datetimeFigureOut">
              <a:rPr lang="en-IN" smtClean="0"/>
              <a:t>21-01-2026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B4BCD6AD-2ED0-4AD3-9950-6E1802F11E46}"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5466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E06200-7042-4448-8BCB-6B20C1C7B22C}"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BCD6AD-2ED0-4AD3-9950-6E1802F11E46}"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2953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E06200-7042-4448-8BCB-6B20C1C7B22C}"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BCD6AD-2ED0-4AD3-9950-6E1802F11E46}"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7363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E06200-7042-4448-8BCB-6B20C1C7B22C}" type="datetimeFigureOut">
              <a:rPr lang="en-IN" smtClean="0"/>
              <a:t>21-01-2026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BCD6AD-2ED0-4AD3-9950-6E1802F11E46}"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1912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E06200-7042-4448-8BCB-6B20C1C7B22C}" type="datetimeFigureOut">
              <a:rPr lang="en-IN" smtClean="0"/>
              <a:t>21-01-2026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BCD6AD-2ED0-4AD3-9950-6E1802F11E46}"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72053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E06200-7042-4448-8BCB-6B20C1C7B22C}" type="datetimeFigureOut">
              <a:rPr lang="en-IN" smtClean="0"/>
              <a:t>21-01-2026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BCD6AD-2ED0-4AD3-9950-6E1802F11E46}"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01058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E06200-7042-4448-8BCB-6B20C1C7B22C}" type="datetimeFigureOut">
              <a:rPr lang="en-IN" smtClean="0"/>
              <a:t>21-01-2026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BCD6AD-2ED0-4AD3-9950-6E1802F11E46}" type="slidenum">
              <a:rPr lang="en-IN" smtClean="0"/>
              <a:t>‹#›</a:t>
            </a:fld>
            <a:endParaRPr lang="en-IN"/>
          </a:p>
        </p:txBody>
      </p:sp>
    </p:spTree>
    <p:extLst>
      <p:ext uri="{BB962C8B-B14F-4D97-AF65-F5344CB8AC3E}">
        <p14:creationId xmlns:p14="http://schemas.microsoft.com/office/powerpoint/2010/main" val="157790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E06200-7042-4448-8BCB-6B20C1C7B22C}" type="datetimeFigureOut">
              <a:rPr lang="en-IN" smtClean="0"/>
              <a:t>21-01-2026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BCD6AD-2ED0-4AD3-9950-6E1802F11E46}"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5652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9E06200-7042-4448-8BCB-6B20C1C7B22C}" type="datetimeFigureOut">
              <a:rPr lang="en-IN" smtClean="0"/>
              <a:t>21-01-2026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B4BCD6AD-2ED0-4AD3-9950-6E1802F11E46}"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1412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E06200-7042-4448-8BCB-6B20C1C7B22C}"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BCD6AD-2ED0-4AD3-9950-6E1802F11E46}"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5015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E06200-7042-4448-8BCB-6B20C1C7B22C}"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BCD6AD-2ED0-4AD3-9950-6E1802F11E46}"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4324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9E06200-7042-4448-8BCB-6B20C1C7B22C}" type="datetimeFigureOut">
              <a:rPr lang="en-IN" smtClean="0"/>
              <a:t>21-01-2026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4BCD6AD-2ED0-4AD3-9950-6E1802F11E46}"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2760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56412368-7E6B-4064-B6FA-72DF6DA0C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8014FE20-9BCC-4219-A8AD-B1C110BD55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xmlns="" id="{986D846F-CDE1-6EB5-0A98-EE8FCA130DC9}"/>
              </a:ext>
            </a:extLst>
          </p:cNvPr>
          <p:cNvSpPr>
            <a:spLocks noGrp="1"/>
          </p:cNvSpPr>
          <p:nvPr>
            <p:ph type="ctrTitle"/>
          </p:nvPr>
        </p:nvSpPr>
        <p:spPr>
          <a:xfrm>
            <a:off x="1452617" y="976508"/>
            <a:ext cx="5525305" cy="2367221"/>
          </a:xfrm>
        </p:spPr>
        <p:txBody>
          <a:bodyPr>
            <a:normAutofit/>
          </a:bodyPr>
          <a:lstStyle/>
          <a:p>
            <a:r>
              <a:rPr lang="en-US" sz="5400" b="1" cap="none" dirty="0">
                <a:solidFill>
                  <a:srgbClr val="0070C0"/>
                </a:solidFill>
              </a:rPr>
              <a:t>Statements </a:t>
            </a:r>
            <a:br>
              <a:rPr lang="en-US" sz="5400" b="1" cap="none" dirty="0">
                <a:solidFill>
                  <a:srgbClr val="0070C0"/>
                </a:solidFill>
              </a:rPr>
            </a:br>
            <a:r>
              <a:rPr lang="en-US" sz="5400" b="1" cap="none" dirty="0">
                <a:solidFill>
                  <a:srgbClr val="0070C0"/>
                </a:solidFill>
              </a:rPr>
              <a:t>	&amp;</a:t>
            </a:r>
            <a:br>
              <a:rPr lang="en-US" sz="5400" b="1" cap="none" dirty="0">
                <a:solidFill>
                  <a:srgbClr val="0070C0"/>
                </a:solidFill>
              </a:rPr>
            </a:br>
            <a:r>
              <a:rPr lang="en-US" sz="5400" b="1" cap="none" dirty="0">
                <a:solidFill>
                  <a:srgbClr val="0070C0"/>
                </a:solidFill>
              </a:rPr>
              <a:t>Conclusions</a:t>
            </a:r>
            <a:endParaRPr lang="en-IN" sz="5400" b="1" cap="none" dirty="0">
              <a:solidFill>
                <a:srgbClr val="0070C0"/>
              </a:solidFill>
            </a:endParaRPr>
          </a:p>
        </p:txBody>
      </p:sp>
      <p:cxnSp>
        <p:nvCxnSpPr>
          <p:cNvPr id="13" name="Straight Connector 12">
            <a:extLst>
              <a:ext uri="{FF2B5EF4-FFF2-40B4-BE49-F238E27FC236}">
                <a16:creationId xmlns:a16="http://schemas.microsoft.com/office/drawing/2014/main" xmlns="" id="{A661C966-C6C8-4667-903D-E68521C357F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1452618" y="3528543"/>
            <a:ext cx="553611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1" name="Picture 20">
            <a:extLst>
              <a:ext uri="{FF2B5EF4-FFF2-40B4-BE49-F238E27FC236}">
                <a16:creationId xmlns:a16="http://schemas.microsoft.com/office/drawing/2014/main" xmlns="" id="{6DF84359-5DD6-461B-9519-90AA2F46C1BE}"/>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3" name="Straight Connector 22">
            <a:extLst>
              <a:ext uri="{FF2B5EF4-FFF2-40B4-BE49-F238E27FC236}">
                <a16:creationId xmlns:a16="http://schemas.microsoft.com/office/drawing/2014/main" xmlns="" id="{E90BC892-CE86-41EE-8A3B-2178D5170C7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884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451579" y="804519"/>
            <a:ext cx="8651791" cy="1049235"/>
          </a:xfrm>
        </p:spPr>
        <p:txBody>
          <a:bodyPr>
            <a:noAutofit/>
          </a:bodyPr>
          <a:lstStyle/>
          <a:p>
            <a:r>
              <a:rPr lang="en-US" sz="1800" b="0" i="0" cap="none" dirty="0">
                <a:solidFill>
                  <a:srgbClr val="0070C0"/>
                </a:solidFill>
                <a:effectLst/>
                <a:latin typeface="Times New Roman" panose="02020603050405020304" pitchFamily="18" charset="0"/>
                <a:cs typeface="Times New Roman" panose="02020603050405020304" pitchFamily="18" charset="0"/>
              </a:rPr>
              <a:t>In each question below is given a statement followed by two conclusions numbered I and II. You have to assume everything in the statement to be true, then consider the two conclusions together and decide which of them logically follows beyond a reasonable doubt from the information given in the statement.</a:t>
            </a:r>
            <a:r>
              <a:rPr lang="en-US" sz="1800" b="0" i="0" cap="none" dirty="0">
                <a:effectLst/>
                <a:latin typeface="Times New Roman" panose="02020603050405020304" pitchFamily="18" charset="0"/>
                <a:cs typeface="Times New Roman" panose="02020603050405020304" pitchFamily="18" charset="0"/>
              </a:rPr>
              <a:t/>
            </a:r>
            <a:br>
              <a:rPr lang="en-US" sz="1800" b="0" i="0" cap="none" dirty="0">
                <a:effectLst/>
                <a:latin typeface="Times New Roman" panose="02020603050405020304" pitchFamily="18" charset="0"/>
                <a:cs typeface="Times New Roman" panose="02020603050405020304" pitchFamily="18" charset="0"/>
              </a:rPr>
            </a:br>
            <a:r>
              <a:rPr lang="en-US" sz="1800" b="0" i="0" cap="none" dirty="0">
                <a:effectLst/>
                <a:latin typeface="Times New Roman" panose="02020603050405020304" pitchFamily="18" charset="0"/>
                <a:cs typeface="Times New Roman" panose="02020603050405020304" pitchFamily="18" charset="0"/>
              </a:rPr>
              <a:t/>
            </a:r>
            <a:br>
              <a:rPr lang="en-US" sz="1800" b="0" i="0" cap="none" dirty="0">
                <a:effectLst/>
                <a:latin typeface="Times New Roman" panose="02020603050405020304" pitchFamily="18" charset="0"/>
                <a:cs typeface="Times New Roman" panose="02020603050405020304" pitchFamily="18" charset="0"/>
              </a:rPr>
            </a:br>
            <a:r>
              <a:rPr lang="en-US" sz="1800" b="0" i="0" cap="none" dirty="0">
                <a:effectLst/>
                <a:latin typeface="Times New Roman" panose="02020603050405020304" pitchFamily="18" charset="0"/>
                <a:cs typeface="Times New Roman" panose="02020603050405020304" pitchFamily="18" charset="0"/>
              </a:rPr>
              <a:t/>
            </a:r>
            <a:br>
              <a:rPr lang="en-US" sz="1800" b="0" i="0" cap="none" dirty="0">
                <a:effectLst/>
                <a:latin typeface="Times New Roman" panose="02020603050405020304" pitchFamily="18" charset="0"/>
                <a:cs typeface="Times New Roman" panose="02020603050405020304" pitchFamily="18" charset="0"/>
              </a:rPr>
            </a:br>
            <a:endParaRPr lang="en-IN" sz="1800" cap="none" dirty="0"/>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a:xfrm>
            <a:off x="1451578" y="2448411"/>
            <a:ext cx="9603275" cy="3257204"/>
          </a:xfrm>
        </p:spPr>
        <p:txBody>
          <a:bodyPr/>
          <a:lstStyle/>
          <a:p>
            <a:pPr marL="0" indent="0">
              <a:buNone/>
            </a:pPr>
            <a:r>
              <a:rPr lang="en-US" b="0" i="0" dirty="0">
                <a:effectLst/>
                <a:latin typeface="Times New Roman" panose="02020603050405020304" pitchFamily="18" charset="0"/>
                <a:cs typeface="Times New Roman" panose="02020603050405020304" pitchFamily="18" charset="0"/>
              </a:rPr>
              <a:t>(A) If only conclusion I follows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(B) If only conclusion II follows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(C) If either I or II follows</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(D) If neither I nor II follows and</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(E) If both I and II follow.</a:t>
            </a: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964950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309773" y="512514"/>
            <a:ext cx="8576841" cy="1049235"/>
          </a:xfrm>
        </p:spPr>
        <p:txBody>
          <a:bodyPr>
            <a:noAutofit/>
          </a:bodyPr>
          <a:lstStyle/>
          <a:p>
            <a:r>
              <a:rPr lang="en-US" sz="2800" b="1" i="0" u="sng" cap="none" dirty="0">
                <a:solidFill>
                  <a:srgbClr val="0070C0"/>
                </a:solidFill>
                <a:effectLst/>
                <a:latin typeface="Times New Roman" panose="02020603050405020304" pitchFamily="18" charset="0"/>
                <a:cs typeface="Times New Roman" panose="02020603050405020304" pitchFamily="18" charset="0"/>
              </a:rPr>
              <a:t>Statements</a:t>
            </a:r>
            <a:r>
              <a:rPr lang="en-US" sz="2800" b="1" i="0" cap="none" dirty="0">
                <a:solidFill>
                  <a:srgbClr val="0070C0"/>
                </a:solidFill>
                <a:effectLst/>
                <a:latin typeface="Times New Roman" panose="02020603050405020304" pitchFamily="18" charset="0"/>
                <a:cs typeface="Times New Roman" panose="02020603050405020304" pitchFamily="18" charset="0"/>
              </a:rPr>
              <a:t>: </a:t>
            </a:r>
            <a:r>
              <a:rPr lang="en-US" sz="2800" b="0" i="0" cap="none" dirty="0">
                <a:solidFill>
                  <a:srgbClr val="0070C0"/>
                </a:solidFill>
                <a:effectLst/>
                <a:latin typeface="Times New Roman" panose="02020603050405020304" pitchFamily="18" charset="0"/>
                <a:cs typeface="Times New Roman" panose="02020603050405020304" pitchFamily="18" charset="0"/>
              </a:rPr>
              <a:t>in a one-day cricket match, the total runs made by a team were 200. Out of these 160 runs were made by spinners.</a:t>
            </a:r>
            <a:br>
              <a:rPr lang="en-US" sz="2800" b="0" i="0" cap="none" dirty="0">
                <a:solidFill>
                  <a:srgbClr val="0070C0"/>
                </a:solidFill>
                <a:effectLst/>
                <a:latin typeface="Times New Roman" panose="02020603050405020304" pitchFamily="18" charset="0"/>
                <a:cs typeface="Times New Roman" panose="02020603050405020304" pitchFamily="18" charset="0"/>
              </a:rPr>
            </a:br>
            <a:endParaRPr lang="en-IN" sz="2800" cap="none" dirty="0">
              <a:solidFill>
                <a:srgbClr val="0070C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a:xfrm>
            <a:off x="1451579" y="1864402"/>
            <a:ext cx="9603275" cy="3861842"/>
          </a:xfrm>
        </p:spPr>
        <p:txBody>
          <a:bodyPr>
            <a:noAutofit/>
          </a:bodyPr>
          <a:lstStyle/>
          <a:p>
            <a:pPr marL="0" indent="0" algn="l">
              <a:buNone/>
            </a:pPr>
            <a:r>
              <a:rPr lang="en-US" sz="2400" b="1" dirty="0">
                <a:latin typeface="Times New Roman" panose="02020603050405020304" pitchFamily="18" charset="0"/>
                <a:cs typeface="Times New Roman" panose="02020603050405020304" pitchFamily="18" charset="0"/>
              </a:rPr>
              <a:t>Conclusions:</a:t>
            </a:r>
          </a:p>
          <a:p>
            <a:pPr marL="514350" indent="-514350">
              <a:buFont typeface="+mj-lt"/>
              <a:buAutoNum type="romanUcPeriod"/>
            </a:pPr>
            <a:r>
              <a:rPr lang="en-US" sz="2400" dirty="0">
                <a:latin typeface="Times New Roman" panose="02020603050405020304" pitchFamily="18" charset="0"/>
                <a:cs typeface="Times New Roman" panose="02020603050405020304" pitchFamily="18" charset="0"/>
              </a:rPr>
              <a:t>I. 80% of the team consists of spinners.</a:t>
            </a:r>
          </a:p>
          <a:p>
            <a:pPr marL="514350" indent="-514350">
              <a:buFont typeface="+mj-lt"/>
              <a:buAutoNum type="romanUcPeriod"/>
            </a:pPr>
            <a:r>
              <a:rPr lang="en-US" sz="2400" dirty="0">
                <a:latin typeface="Times New Roman" panose="02020603050405020304" pitchFamily="18" charset="0"/>
                <a:cs typeface="Times New Roman" panose="02020603050405020304" pitchFamily="18" charset="0"/>
              </a:rPr>
              <a:t>II. The opening batsmen were spinners.</a:t>
            </a:r>
          </a:p>
          <a:p>
            <a:pPr marL="0" indent="0">
              <a:buNone/>
            </a:pPr>
            <a:r>
              <a:rPr lang="en-US" sz="2400" dirty="0">
                <a:latin typeface="Times New Roman" panose="02020603050405020304" pitchFamily="18" charset="0"/>
                <a:cs typeface="Times New Roman" panose="02020603050405020304" pitchFamily="18" charset="0"/>
              </a:rPr>
              <a:t>Sol-  According to the statement, 80% of the total runs were made by spinners. So, I do not follow. Nothing about the opening batsmen is mentioned in the statement. So, II also does not follow.</a:t>
            </a:r>
          </a:p>
          <a:p>
            <a:pPr marL="0" indent="0">
              <a:buNone/>
            </a:pPr>
            <a:r>
              <a:rPr lang="en-US" sz="2400" b="1" dirty="0">
                <a:latin typeface="Times New Roman" panose="02020603050405020304" pitchFamily="18" charset="0"/>
                <a:cs typeface="Times New Roman" panose="02020603050405020304" pitchFamily="18" charset="0"/>
              </a:rPr>
              <a:t>The right option is D ( Neither of the statements follows)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1731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p:txBody>
          <a:bodyPr/>
          <a:lstStyle/>
          <a:p>
            <a:pPr marL="0" indent="0"/>
            <a:r>
              <a:rPr lang="en-US" sz="2800" b="1" u="sng" cap="none" dirty="0">
                <a:solidFill>
                  <a:srgbClr val="0070C0"/>
                </a:solidFill>
                <a:latin typeface="Times New Roman" panose="02020603050405020304" pitchFamily="18" charset="0"/>
                <a:cs typeface="Times New Roman" panose="02020603050405020304" pitchFamily="18" charset="0"/>
              </a:rPr>
              <a:t>Statements: </a:t>
            </a:r>
            <a:r>
              <a:rPr lang="en-US" sz="2800" b="1" cap="none" dirty="0">
                <a:solidFill>
                  <a:srgbClr val="0070C0"/>
                </a:solidFill>
                <a:latin typeface="Times New Roman" panose="02020603050405020304" pitchFamily="18" charset="0"/>
                <a:cs typeface="Times New Roman" panose="02020603050405020304" pitchFamily="18" charset="0"/>
              </a:rPr>
              <a:t>The old order changed yielding place </a:t>
            </a:r>
            <a:br>
              <a:rPr lang="en-US" sz="2800" b="1" cap="none" dirty="0">
                <a:solidFill>
                  <a:srgbClr val="0070C0"/>
                </a:solidFill>
                <a:latin typeface="Times New Roman" panose="02020603050405020304" pitchFamily="18" charset="0"/>
                <a:cs typeface="Times New Roman" panose="02020603050405020304" pitchFamily="18" charset="0"/>
              </a:rPr>
            </a:br>
            <a:r>
              <a:rPr lang="en-US" sz="2800" b="1" cap="none" dirty="0">
                <a:solidFill>
                  <a:srgbClr val="0070C0"/>
                </a:solidFill>
                <a:latin typeface="Times New Roman" panose="02020603050405020304" pitchFamily="18" charset="0"/>
                <a:cs typeface="Times New Roman" panose="02020603050405020304" pitchFamily="18" charset="0"/>
              </a:rPr>
              <a:t>to new.</a:t>
            </a:r>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p:txBody>
          <a:bodyPr>
            <a:noAutofit/>
          </a:bodyPr>
          <a:lstStyle/>
          <a:p>
            <a:pPr marL="0" indent="0" algn="l">
              <a:buNone/>
            </a:pPr>
            <a:r>
              <a:rPr lang="en-US" sz="2400" b="1" dirty="0">
                <a:latin typeface="Times New Roman" panose="02020603050405020304" pitchFamily="18" charset="0"/>
                <a:cs typeface="Times New Roman" panose="02020603050405020304" pitchFamily="18" charset="0"/>
              </a:rPr>
              <a:t>Conclusions:</a:t>
            </a:r>
          </a:p>
          <a:p>
            <a:pPr marL="514350" indent="-514350">
              <a:buFont typeface="+mj-lt"/>
              <a:buAutoNum type="romanUcPeriod"/>
            </a:pPr>
            <a:r>
              <a:rPr lang="en-US" sz="2400" dirty="0">
                <a:latin typeface="Times New Roman" panose="02020603050405020304" pitchFamily="18" charset="0"/>
                <a:cs typeface="Times New Roman" panose="02020603050405020304" pitchFamily="18" charset="0"/>
              </a:rPr>
              <a:t>Change is the law of nature.</a:t>
            </a:r>
          </a:p>
          <a:p>
            <a:pPr marL="514350" indent="-514350">
              <a:buFont typeface="+mj-lt"/>
              <a:buAutoNum type="romanUcPeriod"/>
            </a:pPr>
            <a:r>
              <a:rPr lang="en-US" sz="2400" dirty="0">
                <a:latin typeface="Times New Roman" panose="02020603050405020304" pitchFamily="18" charset="0"/>
                <a:cs typeface="Times New Roman" panose="02020603050405020304" pitchFamily="18" charset="0"/>
              </a:rPr>
              <a:t>Discard old ideas because they are old.</a:t>
            </a:r>
          </a:p>
          <a:p>
            <a:pPr marL="0" indent="0">
              <a:buNone/>
            </a:pPr>
            <a:r>
              <a:rPr lang="en-US" sz="2400" dirty="0">
                <a:latin typeface="Times New Roman" panose="02020603050405020304" pitchFamily="18" charset="0"/>
                <a:cs typeface="Times New Roman" panose="02020603050405020304" pitchFamily="18" charset="0"/>
              </a:rPr>
              <a:t>Sol- Clearly, I directly follow from the given statement. Also, it is mentioned that old ideas are replaced by new ones, as thinking changes with the progressing time. So, II does not follow.</a:t>
            </a:r>
          </a:p>
          <a:p>
            <a:pPr marL="0" indent="0">
              <a:buNone/>
            </a:pPr>
            <a:r>
              <a:rPr lang="en-US" sz="2400" b="1" dirty="0">
                <a:latin typeface="Times New Roman" panose="02020603050405020304" pitchFamily="18" charset="0"/>
                <a:cs typeface="Times New Roman" panose="02020603050405020304" pitchFamily="18" charset="0"/>
              </a:rPr>
              <a:t>The right Option is A</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617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451579" y="512514"/>
            <a:ext cx="9603275" cy="1049235"/>
          </a:xfrm>
        </p:spPr>
        <p:txBody>
          <a:bodyPr>
            <a:normAutofit fontScale="90000"/>
          </a:bodyPr>
          <a:lstStyle/>
          <a:p>
            <a:r>
              <a:rPr lang="en-US" sz="3100" b="1" u="sng" cap="none" dirty="0">
                <a:solidFill>
                  <a:srgbClr val="0070C0"/>
                </a:solidFill>
                <a:latin typeface="Times New Roman" panose="02020603050405020304" pitchFamily="18" charset="0"/>
                <a:cs typeface="Times New Roman" panose="02020603050405020304" pitchFamily="18" charset="0"/>
              </a:rPr>
              <a:t>Statements: </a:t>
            </a:r>
            <a:r>
              <a:rPr lang="en-US" sz="3100" cap="none" dirty="0">
                <a:solidFill>
                  <a:srgbClr val="0070C0"/>
                </a:solidFill>
                <a:latin typeface="Times New Roman" panose="02020603050405020304" pitchFamily="18" charset="0"/>
                <a:cs typeface="Times New Roman" panose="02020603050405020304" pitchFamily="18" charset="0"/>
              </a:rPr>
              <a:t>The government has spoiled many top ranking financial institutions by appointing bureaucrats </a:t>
            </a:r>
            <a:br>
              <a:rPr lang="en-US" sz="3100" cap="none" dirty="0">
                <a:solidFill>
                  <a:srgbClr val="0070C0"/>
                </a:solidFill>
                <a:latin typeface="Times New Roman" panose="02020603050405020304" pitchFamily="18" charset="0"/>
                <a:cs typeface="Times New Roman" panose="02020603050405020304" pitchFamily="18" charset="0"/>
              </a:rPr>
            </a:br>
            <a:r>
              <a:rPr lang="en-US" sz="3100" cap="none" dirty="0">
                <a:solidFill>
                  <a:srgbClr val="0070C0"/>
                </a:solidFill>
                <a:latin typeface="Times New Roman" panose="02020603050405020304" pitchFamily="18" charset="0"/>
                <a:cs typeface="Times New Roman" panose="02020603050405020304" pitchFamily="18" charset="0"/>
              </a:rPr>
              <a:t>as Directors of these institutions</a:t>
            </a:r>
            <a:r>
              <a:rPr lang="en-US" sz="2800" dirty="0">
                <a:solidFill>
                  <a:srgbClr val="0070C0"/>
                </a:solidFill>
                <a:latin typeface="Times New Roman" panose="02020603050405020304" pitchFamily="18" charset="0"/>
                <a:cs typeface="Times New Roman" panose="02020603050405020304" pitchFamily="18" charset="0"/>
              </a:rPr>
              <a:t>.</a:t>
            </a:r>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a:xfrm>
            <a:off x="1451579" y="1864401"/>
            <a:ext cx="9603275" cy="4177037"/>
          </a:xfrm>
        </p:spPr>
        <p:txBody>
          <a:bodyPr>
            <a:noAutofit/>
          </a:bodyPr>
          <a:lstStyle/>
          <a:p>
            <a:pPr marL="0" indent="0" algn="just">
              <a:buNone/>
            </a:pPr>
            <a:r>
              <a:rPr lang="en-US" b="1" dirty="0">
                <a:latin typeface="Times New Roman" panose="02020603050405020304" pitchFamily="18" charset="0"/>
                <a:cs typeface="Times New Roman" panose="02020603050405020304" pitchFamily="18" charset="0"/>
              </a:rPr>
              <a:t>Conclusions:</a:t>
            </a:r>
          </a:p>
          <a:p>
            <a:pPr marL="514350" indent="-514350" algn="just">
              <a:buFont typeface="+mj-lt"/>
              <a:buAutoNum type="romanUcPeriod"/>
            </a:pPr>
            <a:r>
              <a:rPr lang="en-US" dirty="0">
                <a:latin typeface="Times New Roman" panose="02020603050405020304" pitchFamily="18" charset="0"/>
                <a:cs typeface="Times New Roman" panose="02020603050405020304" pitchFamily="18" charset="0"/>
              </a:rPr>
              <a:t>Government should appoint Directors of the financial institutes taking into consideration the expertise of the person in the area of finance.</a:t>
            </a:r>
          </a:p>
          <a:p>
            <a:pPr marL="514350" indent="-514350" algn="just">
              <a:buFont typeface="+mj-lt"/>
              <a:buAutoNum type="romanUcPeriod"/>
            </a:pPr>
            <a:r>
              <a:rPr lang="en-US" dirty="0">
                <a:latin typeface="Times New Roman" panose="02020603050405020304" pitchFamily="18" charset="0"/>
                <a:cs typeface="Times New Roman" panose="02020603050405020304" pitchFamily="18" charset="0"/>
              </a:rPr>
              <a:t>The Director of the financial institute should have expertise commensurate with the financial work carried out by the institute.</a:t>
            </a:r>
          </a:p>
          <a:p>
            <a:pPr marL="0" indent="0" algn="just">
              <a:buNone/>
            </a:pPr>
            <a:r>
              <a:rPr lang="en-US" dirty="0">
                <a:latin typeface="Times New Roman" panose="02020603050405020304" pitchFamily="18" charset="0"/>
                <a:cs typeface="Times New Roman" panose="02020603050405020304" pitchFamily="18" charset="0"/>
              </a:rPr>
              <a:t>Sol- According to the statement, the Government has spoiled financial institutions by appointing bureaucrats as Directors. This means that only those persons should be appointed as Directors who are finance experts and are acquainted with the financial work of the institute. So, both I and II follow.</a:t>
            </a:r>
          </a:p>
          <a:p>
            <a:pPr marL="0" indent="0" algn="just">
              <a:buNone/>
            </a:pPr>
            <a:r>
              <a:rPr lang="en-US" b="1" dirty="0">
                <a:latin typeface="Times New Roman" panose="02020603050405020304" pitchFamily="18" charset="0"/>
                <a:cs typeface="Times New Roman" panose="02020603050405020304" pitchFamily="18" charset="0"/>
              </a:rPr>
              <a:t>The right Option is E.</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44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279793" y="209862"/>
            <a:ext cx="8606821" cy="1049235"/>
          </a:xfrm>
        </p:spPr>
        <p:txBody>
          <a:bodyPr>
            <a:noAutofit/>
          </a:bodyPr>
          <a:lstStyle/>
          <a:p>
            <a:r>
              <a:rPr lang="en-US" sz="2400" b="1" u="sng" cap="none" dirty="0">
                <a:solidFill>
                  <a:srgbClr val="0070C0"/>
                </a:solidFill>
                <a:latin typeface="Times New Roman" panose="02020603050405020304" pitchFamily="18" charset="0"/>
                <a:cs typeface="Times New Roman" panose="02020603050405020304" pitchFamily="18" charset="0"/>
              </a:rPr>
              <a:t>Statements:</a:t>
            </a:r>
            <a:r>
              <a:rPr lang="en-US" sz="2400" b="1" cap="none" dirty="0">
                <a:solidFill>
                  <a:srgbClr val="0070C0"/>
                </a:solidFill>
                <a:latin typeface="Times New Roman" panose="02020603050405020304" pitchFamily="18" charset="0"/>
                <a:cs typeface="Times New Roman" panose="02020603050405020304" pitchFamily="18" charset="0"/>
              </a:rPr>
              <a:t> Prime age school-going children in urban India have now become avid as well as more regular viewers of television, even in households without a TV. As a result there has been an alarming decline in the extent of readership of newspapers</a:t>
            </a:r>
            <a:r>
              <a:rPr lang="en-US" sz="2400" b="0" i="0" dirty="0">
                <a:effectLst/>
                <a:latin typeface="Inter"/>
              </a:rPr>
              <a:t>.</a:t>
            </a:r>
            <a:br>
              <a:rPr lang="en-US" sz="2400" b="0" i="0" dirty="0">
                <a:effectLst/>
                <a:latin typeface="Inter"/>
              </a:rPr>
            </a:br>
            <a:endParaRPr lang="en-IN" sz="2400" dirty="0"/>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p:txBody>
          <a:bodyPr>
            <a:normAutofit/>
          </a:bodyPr>
          <a:lstStyle/>
          <a:p>
            <a:pPr marL="0" indent="0" algn="l">
              <a:buNone/>
            </a:pPr>
            <a:r>
              <a:rPr lang="en-US" sz="2400" b="1" i="0" dirty="0">
                <a:effectLst/>
                <a:latin typeface="Times New Roman" panose="02020603050405020304" pitchFamily="18" charset="0"/>
                <a:cs typeface="Times New Roman" panose="02020603050405020304" pitchFamily="18" charset="0"/>
              </a:rPr>
              <a:t>Conclusions:</a:t>
            </a:r>
            <a:endParaRPr lang="en-US" sz="2400" b="0" i="0" dirty="0">
              <a:effectLst/>
              <a:latin typeface="Times New Roman" panose="02020603050405020304" pitchFamily="18" charset="0"/>
              <a:cs typeface="Times New Roman" panose="02020603050405020304" pitchFamily="18" charset="0"/>
            </a:endParaRP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Method of increasing the readership of newspapers should be devised.</a:t>
            </a: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A team of experts should be sent to other countries to study the impact of TV. on the readership of newspapers.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2231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416665" y="333423"/>
            <a:ext cx="8684239" cy="1049235"/>
          </a:xfrm>
        </p:spPr>
        <p:txBody>
          <a:bodyPr>
            <a:noAutofit/>
          </a:bodyPr>
          <a:lstStyle/>
          <a:p>
            <a:r>
              <a:rPr lang="en-US" sz="2400" b="1" u="sng" cap="none" dirty="0">
                <a:solidFill>
                  <a:srgbClr val="0070C0"/>
                </a:solidFill>
                <a:latin typeface="Times New Roman" panose="02020603050405020304" pitchFamily="18" charset="0"/>
                <a:cs typeface="Times New Roman" panose="02020603050405020304" pitchFamily="18" charset="0"/>
              </a:rPr>
              <a:t>Statements: </a:t>
            </a:r>
            <a:r>
              <a:rPr lang="en-US" sz="2400" b="1" cap="none" dirty="0">
                <a:solidFill>
                  <a:srgbClr val="0070C0"/>
                </a:solidFill>
                <a:latin typeface="Times New Roman" panose="02020603050405020304" pitchFamily="18" charset="0"/>
                <a:cs typeface="Times New Roman" panose="02020603050405020304" pitchFamily="18" charset="0"/>
              </a:rPr>
              <a:t>The Government run company had asked its employees to declare their income and assets but it has been strongly resisted by the employees union and no employee is going to declare his income.</a:t>
            </a:r>
            <a:br>
              <a:rPr lang="en-US" sz="2400" b="1" cap="none" dirty="0">
                <a:solidFill>
                  <a:srgbClr val="0070C0"/>
                </a:solidFill>
                <a:latin typeface="Times New Roman" panose="02020603050405020304" pitchFamily="18" charset="0"/>
                <a:cs typeface="Times New Roman" panose="02020603050405020304" pitchFamily="18" charset="0"/>
              </a:rPr>
            </a:br>
            <a:endParaRPr lang="en-IN" sz="2400" b="1" cap="none" dirty="0">
              <a:solidFill>
                <a:srgbClr val="0070C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p:txBody>
          <a:bodyPr>
            <a:normAutofit/>
          </a:bodyPr>
          <a:lstStyle/>
          <a:p>
            <a:pPr marL="0" indent="0" algn="l">
              <a:buNone/>
            </a:pPr>
            <a:r>
              <a:rPr lang="en-US" sz="2400" b="1" i="0" dirty="0">
                <a:effectLst/>
                <a:latin typeface="Times New Roman" panose="02020603050405020304" pitchFamily="18" charset="0"/>
                <a:cs typeface="Times New Roman" panose="02020603050405020304" pitchFamily="18" charset="0"/>
              </a:rPr>
              <a:t>Conclusions:</a:t>
            </a:r>
            <a:endParaRPr lang="en-US" sz="2400" b="0" i="0" dirty="0">
              <a:effectLst/>
              <a:latin typeface="Times New Roman" panose="02020603050405020304" pitchFamily="18" charset="0"/>
              <a:cs typeface="Times New Roman" panose="02020603050405020304" pitchFamily="18" charset="0"/>
            </a:endParaRP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The employees of this company do not seem to have any additional undisclosed income besides their salary.</a:t>
            </a: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The employees union wants all senior officers to declare their income first.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800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219832" y="374754"/>
            <a:ext cx="8666782" cy="1262661"/>
          </a:xfrm>
        </p:spPr>
        <p:txBody>
          <a:bodyPr>
            <a:normAutofit fontScale="90000"/>
          </a:bodyPr>
          <a:lstStyle/>
          <a:p>
            <a:r>
              <a:rPr lang="en-US" sz="2700" b="1" u="sng" cap="none" dirty="0">
                <a:solidFill>
                  <a:srgbClr val="0070C0"/>
                </a:solidFill>
                <a:latin typeface="Times New Roman" panose="02020603050405020304" pitchFamily="18" charset="0"/>
                <a:cs typeface="Times New Roman" panose="02020603050405020304" pitchFamily="18" charset="0"/>
              </a:rPr>
              <a:t>Statements: </a:t>
            </a:r>
            <a:r>
              <a:rPr lang="en-US" sz="2700" b="1" cap="none" dirty="0">
                <a:solidFill>
                  <a:srgbClr val="0070C0"/>
                </a:solidFill>
                <a:latin typeface="Times New Roman" panose="02020603050405020304" pitchFamily="18" charset="0"/>
                <a:cs typeface="Times New Roman" panose="02020603050405020304" pitchFamily="18" charset="0"/>
              </a:rPr>
              <a:t>The T.V. programs, telecast especially for women are packed with a variety of recipes and household hints. A major portion of magazines for women also contains the items mentioned above</a:t>
            </a:r>
            <a:r>
              <a:rPr lang="en-US" b="0" i="0" dirty="0">
                <a:effectLst/>
                <a:latin typeface="Inter"/>
              </a:rPr>
              <a:t>.</a:t>
            </a:r>
            <a:br>
              <a:rPr lang="en-US" b="0" i="0" dirty="0">
                <a:effectLst/>
                <a:latin typeface="Inter"/>
              </a:rPr>
            </a:br>
            <a:endParaRPr lang="en-IN" dirty="0"/>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p:txBody>
          <a:bodyPr>
            <a:normAutofit/>
          </a:bodyPr>
          <a:lstStyle/>
          <a:p>
            <a:pPr marL="0" indent="0">
              <a:buNone/>
            </a:pPr>
            <a:r>
              <a:rPr lang="en-US" sz="2400" b="1" i="0" dirty="0">
                <a:effectLst/>
                <a:latin typeface="Times New Roman" panose="02020603050405020304" pitchFamily="18" charset="0"/>
                <a:cs typeface="Times New Roman" panose="02020603050405020304" pitchFamily="18" charset="0"/>
              </a:rPr>
              <a:t>Conclusions:</a:t>
            </a:r>
            <a:endParaRPr lang="en-US" sz="2400" b="0" i="0" dirty="0">
              <a:effectLst/>
              <a:latin typeface="Times New Roman" panose="02020603050405020304" pitchFamily="18" charset="0"/>
              <a:cs typeface="Times New Roman" panose="02020603050405020304" pitchFamily="18" charset="0"/>
            </a:endParaRP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Women are not interested in other things.</a:t>
            </a: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An average woman's primary interest lies in home and specially in the kitchen.</a:t>
            </a:r>
          </a:p>
        </p:txBody>
      </p:sp>
    </p:spTree>
    <p:extLst>
      <p:ext uri="{BB962C8B-B14F-4D97-AF65-F5344CB8AC3E}">
        <p14:creationId xmlns:p14="http://schemas.microsoft.com/office/powerpoint/2010/main" val="2203960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451579" y="540064"/>
            <a:ext cx="8606822" cy="1049235"/>
          </a:xfrm>
        </p:spPr>
        <p:txBody>
          <a:bodyPr>
            <a:noAutofit/>
          </a:bodyPr>
          <a:lstStyle/>
          <a:p>
            <a:r>
              <a:rPr lang="en-US" sz="2400" b="1" u="sng" cap="none" dirty="0">
                <a:solidFill>
                  <a:srgbClr val="0070C0"/>
                </a:solidFill>
                <a:latin typeface="Times New Roman" panose="02020603050405020304" pitchFamily="18" charset="0"/>
                <a:cs typeface="Times New Roman" panose="02020603050405020304" pitchFamily="18" charset="0"/>
              </a:rPr>
              <a:t>Statements: </a:t>
            </a:r>
            <a:r>
              <a:rPr lang="en-US" sz="2400" b="1" cap="none" dirty="0">
                <a:solidFill>
                  <a:srgbClr val="0070C0"/>
                </a:solidFill>
                <a:latin typeface="Times New Roman" panose="02020603050405020304" pitchFamily="18" charset="0"/>
                <a:cs typeface="Times New Roman" panose="02020603050405020304" pitchFamily="18" charset="0"/>
              </a:rPr>
              <a:t>The distance of 900 km by road between Bombay and </a:t>
            </a:r>
            <a:r>
              <a:rPr lang="en-US" sz="2400" b="1" cap="none" dirty="0" err="1">
                <a:solidFill>
                  <a:srgbClr val="0070C0"/>
                </a:solidFill>
                <a:latin typeface="Times New Roman" panose="02020603050405020304" pitchFamily="18" charset="0"/>
                <a:cs typeface="Times New Roman" panose="02020603050405020304" pitchFamily="18" charset="0"/>
              </a:rPr>
              <a:t>Jafra</a:t>
            </a:r>
            <a:r>
              <a:rPr lang="en-US" sz="2400" b="1" cap="none" dirty="0">
                <a:solidFill>
                  <a:srgbClr val="0070C0"/>
                </a:solidFill>
                <a:latin typeface="Times New Roman" panose="02020603050405020304" pitchFamily="18" charset="0"/>
                <a:cs typeface="Times New Roman" panose="02020603050405020304" pitchFamily="18" charset="0"/>
              </a:rPr>
              <a:t> will be reduced to 280 km by sea. This will lead to a saving of Rs. 7.92 crores per annum on fuel.</a:t>
            </a:r>
            <a:br>
              <a:rPr lang="en-US" sz="2400" b="1" cap="none" dirty="0">
                <a:solidFill>
                  <a:srgbClr val="0070C0"/>
                </a:solidFill>
                <a:latin typeface="Times New Roman" panose="02020603050405020304" pitchFamily="18" charset="0"/>
                <a:cs typeface="Times New Roman" panose="02020603050405020304" pitchFamily="18" charset="0"/>
              </a:rPr>
            </a:br>
            <a:endParaRPr lang="en-IN" sz="2400" b="1" cap="none" dirty="0">
              <a:solidFill>
                <a:srgbClr val="0070C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p:txBody>
          <a:bodyPr/>
          <a:lstStyle/>
          <a:p>
            <a:pPr marL="0" indent="0" algn="l">
              <a:buNone/>
            </a:pPr>
            <a:r>
              <a:rPr lang="en-US" sz="2400" b="1" i="0" dirty="0">
                <a:effectLst/>
                <a:latin typeface="Times New Roman" panose="02020603050405020304" pitchFamily="18" charset="0"/>
                <a:cs typeface="Times New Roman" panose="02020603050405020304" pitchFamily="18" charset="0"/>
              </a:rPr>
              <a:t>Conclusions:</a:t>
            </a:r>
            <a:endParaRPr lang="en-US" sz="2400" b="0" i="0" dirty="0">
              <a:effectLst/>
              <a:latin typeface="Times New Roman" panose="02020603050405020304" pitchFamily="18" charset="0"/>
              <a:cs typeface="Times New Roman" panose="02020603050405020304" pitchFamily="18" charset="0"/>
            </a:endParaRP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Transportation by sea is cheaper than that by road.</a:t>
            </a: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Fuel must be saved to the greatest extent</a:t>
            </a:r>
          </a:p>
          <a:p>
            <a:endParaRPr lang="en-IN" dirty="0"/>
          </a:p>
        </p:txBody>
      </p:sp>
    </p:spTree>
    <p:extLst>
      <p:ext uri="{BB962C8B-B14F-4D97-AF65-F5344CB8AC3E}">
        <p14:creationId xmlns:p14="http://schemas.microsoft.com/office/powerpoint/2010/main" val="4221659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451580" y="804519"/>
            <a:ext cx="8666782" cy="1049235"/>
          </a:xfrm>
        </p:spPr>
        <p:txBody>
          <a:bodyPr>
            <a:noAutofit/>
          </a:bodyPr>
          <a:lstStyle/>
          <a:p>
            <a:r>
              <a:rPr lang="en-US" sz="2400" b="1" u="sng" cap="none" dirty="0">
                <a:solidFill>
                  <a:srgbClr val="0070C0"/>
                </a:solidFill>
                <a:latin typeface="Times New Roman" panose="02020603050405020304" pitchFamily="18" charset="0"/>
                <a:cs typeface="Times New Roman" panose="02020603050405020304" pitchFamily="18" charset="0"/>
              </a:rPr>
              <a:t>Statements: </a:t>
            </a:r>
            <a:r>
              <a:rPr lang="en-US" sz="2400" b="1" cap="none" dirty="0">
                <a:solidFill>
                  <a:srgbClr val="0070C0"/>
                </a:solidFill>
                <a:latin typeface="Times New Roman" panose="02020603050405020304" pitchFamily="18" charset="0"/>
                <a:cs typeface="Times New Roman" panose="02020603050405020304" pitchFamily="18" charset="0"/>
              </a:rPr>
              <a:t>The manager humiliated Sachin in the presence of his colleagues.</a:t>
            </a:r>
            <a:r>
              <a:rPr lang="en-US" sz="2400" b="1" u="sng" cap="none" dirty="0">
                <a:solidFill>
                  <a:srgbClr val="0070C0"/>
                </a:solidFill>
                <a:latin typeface="Times New Roman" panose="02020603050405020304" pitchFamily="18" charset="0"/>
                <a:cs typeface="Times New Roman" panose="02020603050405020304" pitchFamily="18" charset="0"/>
              </a:rPr>
              <a:t/>
            </a:r>
            <a:br>
              <a:rPr lang="en-US" sz="2400" b="1" u="sng" cap="none" dirty="0">
                <a:solidFill>
                  <a:srgbClr val="0070C0"/>
                </a:solidFill>
                <a:latin typeface="Times New Roman" panose="02020603050405020304" pitchFamily="18" charset="0"/>
                <a:cs typeface="Times New Roman" panose="02020603050405020304" pitchFamily="18" charset="0"/>
              </a:rPr>
            </a:br>
            <a:endParaRPr lang="en-IN" sz="2400" b="1" u="sng" cap="none" dirty="0">
              <a:solidFill>
                <a:srgbClr val="0070C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p:txBody>
          <a:bodyPr>
            <a:normAutofit/>
          </a:bodyPr>
          <a:lstStyle/>
          <a:p>
            <a:pPr marL="0" indent="0" algn="l">
              <a:buNone/>
            </a:pPr>
            <a:r>
              <a:rPr lang="en-US" sz="2400" b="1" i="0" dirty="0">
                <a:effectLst/>
                <a:latin typeface="Times New Roman" panose="02020603050405020304" pitchFamily="18" charset="0"/>
                <a:cs typeface="Times New Roman" panose="02020603050405020304" pitchFamily="18" charset="0"/>
              </a:rPr>
              <a:t>Conclusions:</a:t>
            </a:r>
            <a:endParaRPr lang="en-US" sz="2400" b="0" i="0" dirty="0">
              <a:effectLst/>
              <a:latin typeface="Times New Roman" panose="02020603050405020304" pitchFamily="18" charset="0"/>
              <a:cs typeface="Times New Roman" panose="02020603050405020304" pitchFamily="18" charset="0"/>
            </a:endParaRP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The manager did not like Sachin.</a:t>
            </a: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Sachin was not popular with his colleagues.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2965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451579" y="610262"/>
            <a:ext cx="8636802" cy="1049235"/>
          </a:xfrm>
        </p:spPr>
        <p:txBody>
          <a:bodyPr>
            <a:noAutofit/>
          </a:bodyPr>
          <a:lstStyle/>
          <a:p>
            <a:r>
              <a:rPr lang="en-US" sz="2400" b="1" u="sng" cap="none" dirty="0">
                <a:solidFill>
                  <a:srgbClr val="0070C0"/>
                </a:solidFill>
                <a:latin typeface="Times New Roman" panose="02020603050405020304" pitchFamily="18" charset="0"/>
                <a:cs typeface="Times New Roman" panose="02020603050405020304" pitchFamily="18" charset="0"/>
              </a:rPr>
              <a:t>Statements: </a:t>
            </a:r>
            <a:r>
              <a:rPr lang="en-US" sz="2400" b="1" cap="none" dirty="0">
                <a:solidFill>
                  <a:srgbClr val="0070C0"/>
                </a:solidFill>
                <a:latin typeface="Times New Roman" panose="02020603050405020304" pitchFamily="18" charset="0"/>
                <a:cs typeface="Times New Roman" panose="02020603050405020304" pitchFamily="18" charset="0"/>
              </a:rPr>
              <a:t>Women's organizations in India have welcomed the amendment of the Industrial Employment Rules 1946 to curb sexual harassment at the work place.</a:t>
            </a:r>
            <a:br>
              <a:rPr lang="en-US" sz="2400" b="1" cap="none" dirty="0">
                <a:solidFill>
                  <a:srgbClr val="0070C0"/>
                </a:solidFill>
                <a:latin typeface="Times New Roman" panose="02020603050405020304" pitchFamily="18" charset="0"/>
                <a:cs typeface="Times New Roman" panose="02020603050405020304" pitchFamily="18" charset="0"/>
              </a:rPr>
            </a:br>
            <a:endParaRPr lang="en-IN" sz="2400" b="1" cap="none" dirty="0">
              <a:solidFill>
                <a:srgbClr val="0070C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p:txBody>
          <a:bodyPr>
            <a:normAutofit/>
          </a:bodyPr>
          <a:lstStyle/>
          <a:p>
            <a:pPr marL="0" indent="0" algn="just">
              <a:buNone/>
            </a:pPr>
            <a:r>
              <a:rPr lang="en-US" sz="2400" b="1" i="0" dirty="0">
                <a:effectLst/>
                <a:latin typeface="Times New Roman" panose="02020603050405020304" pitchFamily="18" charset="0"/>
                <a:cs typeface="Times New Roman" panose="02020603050405020304" pitchFamily="18" charset="0"/>
              </a:rPr>
              <a:t>Conclusions:</a:t>
            </a:r>
            <a:endParaRPr lang="en-US" sz="2400" b="0" i="0" dirty="0">
              <a:effectLst/>
              <a:latin typeface="Times New Roman" panose="02020603050405020304" pitchFamily="18" charset="0"/>
              <a:cs typeface="Times New Roman" panose="02020603050405020304" pitchFamily="18" charset="0"/>
            </a:endParaRPr>
          </a:p>
          <a:p>
            <a:pPr marL="514350" indent="-514350" algn="just">
              <a:buFont typeface="+mj-lt"/>
              <a:buAutoNum type="romanUcPeriod"/>
            </a:pPr>
            <a:r>
              <a:rPr lang="en-US" sz="2400" b="0" i="0" dirty="0">
                <a:effectLst/>
                <a:latin typeface="Times New Roman" panose="02020603050405020304" pitchFamily="18" charset="0"/>
                <a:cs typeface="Times New Roman" panose="02020603050405020304" pitchFamily="18" charset="0"/>
              </a:rPr>
              <a:t>Sexual harassment of women at work place is more prevalent in India as compared to other developed countries.</a:t>
            </a:r>
          </a:p>
          <a:p>
            <a:pPr marL="514350" indent="-514350" algn="just">
              <a:buFont typeface="+mj-lt"/>
              <a:buAutoNum type="romanUcPeriod"/>
            </a:pPr>
            <a:r>
              <a:rPr lang="en-US" sz="2400" b="0" i="0" dirty="0">
                <a:effectLst/>
                <a:latin typeface="Times New Roman" panose="02020603050405020304" pitchFamily="18" charset="0"/>
                <a:cs typeface="Times New Roman" panose="02020603050405020304" pitchFamily="18" charset="0"/>
              </a:rPr>
              <a:t>Many </a:t>
            </a:r>
            <a:r>
              <a:rPr lang="en-US" sz="2400" b="0" i="0" dirty="0" err="1">
                <a:effectLst/>
                <a:latin typeface="Times New Roman" panose="02020603050405020304" pitchFamily="18" charset="0"/>
                <a:cs typeface="Times New Roman" panose="02020603050405020304" pitchFamily="18" charset="0"/>
              </a:rPr>
              <a:t>organisations</a:t>
            </a:r>
            <a:r>
              <a:rPr lang="en-US" sz="2400" b="0" i="0" dirty="0">
                <a:effectLst/>
                <a:latin typeface="Times New Roman" panose="02020603050405020304" pitchFamily="18" charset="0"/>
                <a:cs typeface="Times New Roman" panose="02020603050405020304" pitchFamily="18" charset="0"/>
              </a:rPr>
              <a:t> in India will stop recruiting women to avoid such problems.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2163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EAB2209D-265B-4086-BB8C-565D50FC4880}"/>
              </a:ext>
            </a:extLst>
          </p:cNvPr>
          <p:cNvSpPr/>
          <p:nvPr/>
        </p:nvSpPr>
        <p:spPr>
          <a:xfrm>
            <a:off x="137410" y="209862"/>
            <a:ext cx="11917179" cy="5831577"/>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xmlns="" id="{01A442A3-6294-6D65-CF73-BF5DB19C543E}"/>
              </a:ext>
            </a:extLst>
          </p:cNvPr>
          <p:cNvSpPr>
            <a:spLocks noGrp="1"/>
          </p:cNvSpPr>
          <p:nvPr>
            <p:ph type="title"/>
          </p:nvPr>
        </p:nvSpPr>
        <p:spPr>
          <a:xfrm>
            <a:off x="1451579" y="804519"/>
            <a:ext cx="8606821" cy="1049235"/>
          </a:xfrm>
        </p:spPr>
        <p:txBody>
          <a:bodyPr>
            <a:noAutofit/>
          </a:bodyPr>
          <a:lstStyle/>
          <a:p>
            <a:r>
              <a:rPr lang="en-US" sz="2400" b="1" u="sng" cap="none" dirty="0">
                <a:solidFill>
                  <a:srgbClr val="0070C0"/>
                </a:solidFill>
                <a:latin typeface="Times New Roman" panose="02020603050405020304" pitchFamily="18" charset="0"/>
                <a:cs typeface="Times New Roman" panose="02020603050405020304" pitchFamily="18" charset="0"/>
              </a:rPr>
              <a:t>Statements: </a:t>
            </a:r>
            <a:r>
              <a:rPr lang="en-US" sz="2400" b="1" cap="none" dirty="0">
                <a:solidFill>
                  <a:srgbClr val="0070C0"/>
                </a:solidFill>
                <a:latin typeface="Times New Roman" panose="02020603050405020304" pitchFamily="18" charset="0"/>
                <a:cs typeface="Times New Roman" panose="02020603050405020304" pitchFamily="18" charset="0"/>
              </a:rPr>
              <a:t>National Aluminum Company has moved India from a position of shortage to self-sufficiency in the metal.</a:t>
            </a:r>
            <a:br>
              <a:rPr lang="en-US" sz="2400" b="1" cap="none" dirty="0">
                <a:solidFill>
                  <a:srgbClr val="0070C0"/>
                </a:solidFill>
                <a:latin typeface="Times New Roman" panose="02020603050405020304" pitchFamily="18" charset="0"/>
                <a:cs typeface="Times New Roman" panose="02020603050405020304" pitchFamily="18" charset="0"/>
              </a:rPr>
            </a:br>
            <a:endParaRPr lang="en-IN" sz="2400" b="1" cap="none" dirty="0">
              <a:solidFill>
                <a:srgbClr val="0070C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xmlns="" id="{E7D067DF-7F90-9BF7-619E-A565CA5232A3}"/>
              </a:ext>
            </a:extLst>
          </p:cNvPr>
          <p:cNvSpPr>
            <a:spLocks noGrp="1"/>
          </p:cNvSpPr>
          <p:nvPr>
            <p:ph idx="1"/>
          </p:nvPr>
        </p:nvSpPr>
        <p:spPr/>
        <p:txBody>
          <a:bodyPr>
            <a:normAutofit/>
          </a:bodyPr>
          <a:lstStyle/>
          <a:p>
            <a:pPr marL="0" indent="0" algn="l">
              <a:buNone/>
            </a:pPr>
            <a:r>
              <a:rPr lang="en-US" sz="2400" b="1" i="0" dirty="0">
                <a:effectLst/>
                <a:latin typeface="Times New Roman" panose="02020603050405020304" pitchFamily="18" charset="0"/>
                <a:cs typeface="Times New Roman" panose="02020603050405020304" pitchFamily="18" charset="0"/>
              </a:rPr>
              <a:t>Conclusions:</a:t>
            </a:r>
            <a:endParaRPr lang="en-US" sz="2400" b="0" i="0" dirty="0">
              <a:effectLst/>
              <a:latin typeface="Times New Roman" panose="02020603050405020304" pitchFamily="18" charset="0"/>
              <a:cs typeface="Times New Roman" panose="02020603050405020304" pitchFamily="18" charset="0"/>
            </a:endParaRP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Previously, India had to import </a:t>
            </a:r>
            <a:r>
              <a:rPr lang="en-US" sz="2400" b="0" i="0" dirty="0" err="1">
                <a:effectLst/>
                <a:latin typeface="Times New Roman" panose="02020603050405020304" pitchFamily="18" charset="0"/>
                <a:cs typeface="Times New Roman" panose="02020603050405020304" pitchFamily="18" charset="0"/>
              </a:rPr>
              <a:t>aluminium</a:t>
            </a:r>
            <a:r>
              <a:rPr lang="en-US" sz="2400" b="0" i="0" dirty="0">
                <a:effectLst/>
                <a:latin typeface="Times New Roman" panose="02020603050405020304" pitchFamily="18" charset="0"/>
                <a:cs typeface="Times New Roman" panose="02020603050405020304" pitchFamily="18" charset="0"/>
              </a:rPr>
              <a:t>.</a:t>
            </a:r>
          </a:p>
          <a:p>
            <a:pPr marL="514350" indent="-514350">
              <a:buFont typeface="+mj-lt"/>
              <a:buAutoNum type="romanUcPeriod"/>
            </a:pPr>
            <a:r>
              <a:rPr lang="en-US" sz="2400" b="0" i="0" dirty="0">
                <a:effectLst/>
                <a:latin typeface="Times New Roman" panose="02020603050405020304" pitchFamily="18" charset="0"/>
                <a:cs typeface="Times New Roman" panose="02020603050405020304" pitchFamily="18" charset="0"/>
              </a:rPr>
              <a:t>With this speed, it can soon become a foreign exchange earner.</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354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9864A8-CCE4-31E3-9DD3-EF1610295CE1}"/>
              </a:ext>
            </a:extLst>
          </p:cNvPr>
          <p:cNvSpPr>
            <a:spLocks noGrp="1"/>
          </p:cNvSpPr>
          <p:nvPr>
            <p:ph type="title"/>
          </p:nvPr>
        </p:nvSpPr>
        <p:spPr>
          <a:xfrm>
            <a:off x="1109980" y="4335636"/>
            <a:ext cx="9966960" cy="1325880"/>
          </a:xfrm>
        </p:spPr>
        <p:txBody>
          <a:bodyPr vert="horz" lIns="91440" tIns="45720" rIns="91440" bIns="45720" rtlCol="0" anchor="b">
            <a:normAutofit/>
          </a:bodyPr>
          <a:lstStyle/>
          <a:p>
            <a:pPr algn="ctr">
              <a:lnSpc>
                <a:spcPct val="85000"/>
              </a:lnSpc>
            </a:pPr>
            <a:r>
              <a:rPr lang="en-US" sz="6600" b="1" cap="all"/>
              <a:t>THANK YOU!!</a:t>
            </a:r>
          </a:p>
        </p:txBody>
      </p:sp>
      <p:pic>
        <p:nvPicPr>
          <p:cNvPr id="3" name="Picture 2" descr="A blue and green handshake&#10;&#10;Description automatically generated">
            <a:extLst>
              <a:ext uri="{FF2B5EF4-FFF2-40B4-BE49-F238E27FC236}">
                <a16:creationId xmlns:a16="http://schemas.microsoft.com/office/drawing/2014/main" xmlns="" id="{D3BC3B9E-44AD-647E-9A6A-4F1C79EC9282}"/>
              </a:ext>
            </a:extLst>
          </p:cNvPr>
          <p:cNvPicPr>
            <a:picLocks noChangeAspect="1"/>
          </p:cNvPicPr>
          <p:nvPr/>
        </p:nvPicPr>
        <p:blipFill>
          <a:blip r:embed="rId2"/>
          <a:stretch>
            <a:fillRect/>
          </a:stretch>
        </p:blipFill>
        <p:spPr>
          <a:xfrm>
            <a:off x="3533775" y="751756"/>
            <a:ext cx="5124450" cy="5124450"/>
          </a:xfrm>
          <a:prstGeom prst="rect">
            <a:avLst/>
          </a:prstGeom>
        </p:spPr>
      </p:pic>
      <p:sp>
        <p:nvSpPr>
          <p:cNvPr id="5" name="Rectangle: Rounded Corners 4">
            <a:extLst>
              <a:ext uri="{FF2B5EF4-FFF2-40B4-BE49-F238E27FC236}">
                <a16:creationId xmlns:a16="http://schemas.microsoft.com/office/drawing/2014/main" xmlns="" id="{82B0F34F-3326-37BA-F980-550BF312C838}"/>
              </a:ext>
            </a:extLst>
          </p:cNvPr>
          <p:cNvSpPr/>
          <p:nvPr/>
        </p:nvSpPr>
        <p:spPr>
          <a:xfrm>
            <a:off x="137410" y="104932"/>
            <a:ext cx="12054590" cy="6001312"/>
          </a:xfrm>
          <a:prstGeom prst="round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7220023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44</TotalTime>
  <Words>539</Words>
  <Application>Microsoft Office PowerPoint</Application>
  <PresentationFormat>Widescreen</PresentationFormat>
  <Paragraphs>50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Gill Sans MT</vt:lpstr>
      <vt:lpstr>Inter</vt:lpstr>
      <vt:lpstr>Times New Roman</vt:lpstr>
      <vt:lpstr>Gallery</vt:lpstr>
      <vt:lpstr>Statements   &amp; Conclusions</vt:lpstr>
      <vt:lpstr>In each question below is given a statement followed by two conclusions numbered I and II. You have to assume everything in the statement to be true, then consider the two conclusions together and decide which of them logically follows beyond a reasonable doubt from the information given in the statement.   </vt:lpstr>
      <vt:lpstr>Statements: in a one-day cricket match, the total runs made by a team were 200. Out of these 160 runs were made by spinners. </vt:lpstr>
      <vt:lpstr>Statements: The old order changed yielding place  to new.</vt:lpstr>
      <vt:lpstr>Statements: The government has spoiled many top ranking financial institutions by appointing bureaucrats  as Directors of these institutions.</vt:lpstr>
      <vt:lpstr>Statements: Prime age school-going children in urban India have now become avid as well as more regular viewers of television, even in households without a TV. As a result there has been an alarming decline in the extent of readership of newspapers. </vt:lpstr>
      <vt:lpstr>Statements: The Government run company had asked its employees to declare their income and assets but it has been strongly resisted by the employees union and no employee is going to declare his income. </vt:lpstr>
      <vt:lpstr>Statements: The T.V. programs, telecast especially for women are packed with a variety of recipes and household hints. A major portion of magazines for women also contains the items mentioned above. </vt:lpstr>
      <vt:lpstr>Statements: The distance of 900 km by road between Bombay and Jafra will be reduced to 280 km by sea. This will lead to a saving of Rs. 7.92 crores per annum on fuel. </vt:lpstr>
      <vt:lpstr>Statements: The manager humiliated Sachin in the presence of his colleagues. </vt:lpstr>
      <vt:lpstr>Statements: Women's organizations in India have welcomed the amendment of the Industrial Employment Rules 1946 to curb sexual harassment at the work place. </vt:lpstr>
      <vt:lpstr>Statements: National Aluminum Company has moved India from a position of shortage to self-sufficiency in the metal.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Statements   &amp; Conclusions</dc:title>
  <dc:creator>Naveen Kumar</dc:creator>
  <cp:lastModifiedBy>NAVEEN</cp:lastModifiedBy>
  <cp:revision>2</cp:revision>
  <dcterms:created xsi:type="dcterms:W3CDTF">2024-05-27T08:41:12Z</dcterms:created>
  <dcterms:modified xsi:type="dcterms:W3CDTF">2026-01-21T09:11:02Z</dcterms:modified>
</cp:coreProperties>
</file>